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file:///Users/arty/Mori/public/images/P1.png
- file:///Users/arty/Mori/docs/MORI_PRODUCT_ROADMAP.md
[/Sources]
Replace the founder surname and contact details before sending.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https://www.alz.org/alzheimers-dementia/facts-figures
- https://www.who.int/news-room/fact-sheets/detail/dementia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file:///Users/arty/Mori/docs/CONNECTED_LIFE_IMPLEMENTATION.md
- file:///Users/arty/Mori/docs/MORI_PRODUCT_ROADMAP.md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https://www.who.int/news-room/fact-sheets/detail/dementia
- https://www.alz.org/getmedia/ef8f48f9-ad36-48ea-87f9-b74034635c1e/alzheimers-facts-and-figures.pdf
- https://cdn.www.census.gov/library/publications/2020/demo/p25-1144.html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file:///Users/arty/Mori/public/images/mori-companion.png
- file:///Users/arty/Mori/docs/MORI_PRODUCT_ROADMAP.md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file:///Users/arty/Mori/docs/PATENT_TECHNICAL_DISCLOSURE.md
- file:///Users/arty/Mori/docs/MODEL_DEPLOYMENT_ARCHITECTURE.md
- file:///Users/arty/Mori/docs/PRIVACY_SECURITY_OPERATIONS.md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file:///Users/arty/Mori/docs/MORI_PRODUCT_ROADMAP.md
- file:///Users/arty/Mori/docs/LOCAL_MODEL.md
- file:///Users/arty/Mori/docs/pilot/TECHNICAL_READINESS.md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file:///Users/arty/Mori/docs/MORI_PRODUCT_ROADMAP.md
[/Sources]
Business model is a proposed go-to-market thesis and has not yet been validated through revenue.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file:///Users/arty/Mori/docs/pilot/PILOT_PROTOCOL.md
- file:///Users/arty/Mori/docs/pilot/PILOT_MEASUREMENT_PLAN.md
- file:///Users/arty/Mori/docs/pilot/ADVISOR_REVIEW_PACKET.md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file:///Users/arty/Mori/docs/CONNECTED_LIFE_IMPLEMENTATION.md
[/Sources]
Competitive map is category-level positioning, not a claim about specific competitors.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file:///Users/arty/Mori/docs/MORI_PRODUCT_ROADMAP.md
- file:///Users/arty/Mori/docs/pilot/LAUNCH_CHECKLIST.md
[/Sources]
Milestones and allocation are proposed planning targets and should be updated to match the final raise size and hiring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file:///Users/arty/Mori/docs/MORI_PRODUCT_ROADMAP.md
[/Sources]
Replace all bracketed fields before distribution. The raise amount should match a bottoms-up 18-month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RI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519672"/>
            <a:ext cx="11365992" cy="0"/>
          </a:xfrm>
          <a:prstGeom prst="line">
            <a:avLst/>
          </a:prstGeom>
          <a:noFill/>
          <a:ln w="7620">
            <a:solidFill>
              <a:srgbClr val="C9C2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6556248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36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MORI  ·  CONFIDENTIAL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37960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36D6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37960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36D6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rty/Mori/public/images/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0"/>
            <a:ext cx="4736592" cy="65196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0" y="0"/>
            <a:ext cx="1645920" cy="6519672"/>
          </a:xfrm>
          <a:prstGeom prst="rect">
            <a:avLst/>
          </a:prstGeom>
          <a:solidFill>
            <a:srgbClr val="F5F0E7">
              <a:alpha val="97000"/>
            </a:srgbClr>
          </a:solidFill>
          <a:ln w="1270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94360" y="502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819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Mori</a:t>
            </a:r>
            <a:endParaRPr lang="en-US" sz="33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1572768"/>
            <a:ext cx="6766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Memory, dignity,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connection.</a:t>
            </a:r>
            <a:endParaRPr lang="en-US" sz="4200" dirty="0"/>
          </a:p>
        </p:txBody>
      </p:sp>
      <p:sp>
        <p:nvSpPr>
          <p:cNvPr id="6" name="Text 3"/>
          <p:cNvSpPr txBox="1"/>
          <p:nvPr/>
        </p:nvSpPr>
        <p:spPr>
          <a:xfrm>
            <a:off x="621792" y="3547872"/>
            <a:ext cx="5760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permission-aware AI companion that helps older adults revisit meaningful memories while giving families a safer way to preserve and share their story.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21792" y="4956048"/>
            <a:ext cx="2331720" cy="320040"/>
          </a:xfrm>
          <a:prstGeom prst="roundRect">
            <a:avLst>
              <a:gd name="adj" fmla="val 45714"/>
            </a:avLst>
          </a:prstGeom>
          <a:solidFill>
            <a:srgbClr val="283B30"/>
          </a:solidFill>
          <a:ln w="12700">
            <a:solidFill>
              <a:srgbClr val="283B3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4944" y="4974336"/>
            <a:ext cx="2185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PRE-SEED · PILOT STAGE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56509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Founder: Arty [last name]   ·   [email]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37960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36D6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819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loss affects a whole family.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35331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Families carry the context, but the tools around them rarely do.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30352" y="1965960"/>
            <a:ext cx="3429000" cy="3255264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8890">
            <a:solidFill>
              <a:srgbClr val="C9C2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22219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19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274320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history is fragmented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675888"/>
            <a:ext cx="2880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Photos, names and stories live across phones, albums and relatives—outside the moment they are needed.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370832" y="1965960"/>
            <a:ext cx="3429000" cy="3255264"/>
          </a:xfrm>
          <a:prstGeom prst="roundRect">
            <a:avLst>
              <a:gd name="adj" fmla="val 2247"/>
            </a:avLst>
          </a:prstGeom>
          <a:solidFill>
            <a:srgbClr val="E4EBE2"/>
          </a:solidFill>
          <a:ln w="8890">
            <a:solidFill>
              <a:srgbClr val="C9C2B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99432" y="22219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19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274320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 gets harder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3675888"/>
            <a:ext cx="2880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 prompts can create pressure to remember, while caregivers must constantly improvise what feels safe and familiar.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211312" y="1965960"/>
            <a:ext cx="3429000" cy="3255264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8890">
            <a:solidFill>
              <a:srgbClr val="C9C2B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39912" y="22219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19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439912" y="274320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 carries a hidden cost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8439912" y="3675888"/>
            <a:ext cx="2880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Nearly 13M Americans provide unpaid dementia care; 59% report high or very high emotional stress.</a:t>
            </a:r>
            <a:endParaRPr lang="en-US" sz="132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56235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83B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unmet need: personal context that is usable in the moment—without turning memory into a test.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37960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36D6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819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shared Life Map. One calmer conversation.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35331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Mori turns family-approved memories into a gentle, participant-led session.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234440" y="2880360"/>
            <a:ext cx="9692640" cy="0"/>
          </a:xfrm>
          <a:prstGeom prst="line">
            <a:avLst/>
          </a:prstGeom>
          <a:noFill/>
          <a:ln w="38100">
            <a:solidFill>
              <a:srgbClr val="B8C4B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22960" y="2514600"/>
            <a:ext cx="731520" cy="731520"/>
          </a:xfrm>
          <a:prstGeom prst="ellipse">
            <a:avLst/>
          </a:prstGeom>
          <a:solidFill>
            <a:srgbClr val="819783"/>
          </a:solidFill>
          <a:ln w="38100">
            <a:solidFill>
              <a:srgbClr val="F5F0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6243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49300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Family prepares</a:t>
            </a:r>
            <a:endParaRPr lang="en-US" sz="17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4050792"/>
            <a:ext cx="2542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photos and stories, identify people and set who may use each memory.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3721608" y="2514600"/>
            <a:ext cx="731520" cy="731520"/>
          </a:xfrm>
          <a:prstGeom prst="ellipse">
            <a:avLst/>
          </a:prstGeom>
          <a:solidFill>
            <a:srgbClr val="819783"/>
          </a:solidFill>
          <a:ln w="38100">
            <a:solidFill>
              <a:srgbClr val="F5F0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21608" y="26243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401568" y="349300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Mori begins softly</a:t>
            </a:r>
            <a:endParaRPr lang="en-US" sz="1750" dirty="0"/>
          </a:p>
        </p:txBody>
      </p:sp>
      <p:sp>
        <p:nvSpPr>
          <p:cNvPr id="13" name="Text 11"/>
          <p:cNvSpPr txBox="1"/>
          <p:nvPr/>
        </p:nvSpPr>
        <p:spPr>
          <a:xfrm>
            <a:off x="3401568" y="4050792"/>
            <a:ext cx="2542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talk, breathing space and visible controls establish pace before any memory appears.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6620256" y="2514600"/>
            <a:ext cx="731520" cy="731520"/>
          </a:xfrm>
          <a:prstGeom prst="ellipse">
            <a:avLst/>
          </a:prstGeom>
          <a:solidFill>
            <a:srgbClr val="819783"/>
          </a:solidFill>
          <a:ln w="38100">
            <a:solidFill>
              <a:srgbClr val="F5F0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0256" y="26243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300216" y="349300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Permission comes first</a:t>
            </a:r>
            <a:endParaRPr lang="en-US" sz="1750" dirty="0"/>
          </a:p>
        </p:txBody>
      </p:sp>
      <p:sp>
        <p:nvSpPr>
          <p:cNvPr id="17" name="Text 15"/>
          <p:cNvSpPr txBox="1"/>
          <p:nvPr/>
        </p:nvSpPr>
        <p:spPr>
          <a:xfrm>
            <a:off x="6300216" y="4050792"/>
            <a:ext cx="2542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Mori asks before showing a memory and follows corrections, refusals and topic changes.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9518904" y="2514600"/>
            <a:ext cx="731520" cy="731520"/>
          </a:xfrm>
          <a:prstGeom prst="ellipse">
            <a:avLst/>
          </a:prstGeom>
          <a:solidFill>
            <a:srgbClr val="283B30"/>
          </a:solidFill>
          <a:ln w="38100">
            <a:solidFill>
              <a:srgbClr val="F5F0E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18904" y="26243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9198864" y="349300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story compounds</a:t>
            </a:r>
            <a:endParaRPr lang="en-US" sz="1750" dirty="0"/>
          </a:p>
        </p:txBody>
      </p:sp>
      <p:sp>
        <p:nvSpPr>
          <p:cNvPr id="21" name="Text 19"/>
          <p:cNvSpPr txBox="1"/>
          <p:nvPr/>
        </p:nvSpPr>
        <p:spPr>
          <a:xfrm>
            <a:off x="9198864" y="4050792"/>
            <a:ext cx="2542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context, summaries and feedback strengthen the Life Map over time.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530352" y="5715000"/>
            <a:ext cx="1554480" cy="320040"/>
          </a:xfrm>
          <a:prstGeom prst="roundRect">
            <a:avLst>
              <a:gd name="adj" fmla="val 45714"/>
            </a:avLst>
          </a:prstGeom>
          <a:solidFill>
            <a:srgbClr val="527A86"/>
          </a:solidFill>
          <a:ln w="12700">
            <a:solidFill>
              <a:srgbClr val="527A8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3504" y="5733288"/>
            <a:ext cx="1408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 + TYPED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40280" y="5715000"/>
            <a:ext cx="1874520" cy="320040"/>
          </a:xfrm>
          <a:prstGeom prst="roundRect">
            <a:avLst>
              <a:gd name="adj" fmla="val 45714"/>
            </a:avLst>
          </a:prstGeom>
          <a:solidFill>
            <a:srgbClr val="819783"/>
          </a:solidFill>
          <a:ln w="12700">
            <a:solidFill>
              <a:srgbClr val="81978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313432" y="5733288"/>
            <a:ext cx="17282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FAMILY PERMISSIONS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97680" y="5715000"/>
            <a:ext cx="1691640" cy="320040"/>
          </a:xfrm>
          <a:prstGeom prst="roundRect">
            <a:avLst>
              <a:gd name="adj" fmla="val 45714"/>
            </a:avLst>
          </a:prstGeom>
          <a:solidFill>
            <a:srgbClr val="B96A4A"/>
          </a:solidFill>
          <a:ln w="12700">
            <a:solidFill>
              <a:srgbClr val="B96A4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70832" y="5733288"/>
            <a:ext cx="15453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CALM FALLBACKS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72200" y="5715000"/>
            <a:ext cx="1554480" cy="320040"/>
          </a:xfrm>
          <a:prstGeom prst="roundRect">
            <a:avLst>
              <a:gd name="adj" fmla="val 45714"/>
            </a:avLst>
          </a:prstGeom>
          <a:solidFill>
            <a:srgbClr val="283B30"/>
          </a:solidFill>
          <a:ln w="12700">
            <a:solidFill>
              <a:srgbClr val="283B3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45352" y="5733288"/>
            <a:ext cx="1408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MEDIA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37960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36D6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819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growing care challenge meets usable, private AI.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35331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forces are converging around a deeply human need.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92024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96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57M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514600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lived with dementia worldwide in 2021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151376" y="19202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819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~10M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4151376" y="251460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cases occur each year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192024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52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$446B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251460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of U.S. unpaid dementia care in 2025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401568"/>
            <a:ext cx="10744200" cy="0"/>
          </a:xfrm>
          <a:prstGeom prst="line">
            <a:avLst/>
          </a:prstGeom>
          <a:noFill/>
          <a:ln w="10160">
            <a:solidFill>
              <a:srgbClr val="C9C2B6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640080" y="3840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819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2519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2030, one in five Americans is projected to be retirement age.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407408" y="3840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819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 CAPACITY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407408" y="42519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Family caregivers provide 19.6B hours of unpaid help each year.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174736" y="3840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819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174736" y="42519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language models now run locally, allowing personal context to stay on dedicated hardware.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6692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83B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Mori is positioned where longevity, caregiver support and privacy-preserving AI overlap.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37960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36D6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819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EXPERIENCE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for pace, agency and familiarity.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30352" y="1554480"/>
            <a:ext cx="6656832" cy="4462272"/>
          </a:xfrm>
          <a:prstGeom prst="roundRect">
            <a:avLst>
              <a:gd name="adj" fmla="val 2459"/>
            </a:avLst>
          </a:prstGeom>
          <a:solidFill>
            <a:srgbClr val="EEE8DE"/>
          </a:solidFill>
          <a:ln w="8890">
            <a:solidFill>
              <a:srgbClr val="D1C9BC"/>
            </a:solidFill>
            <a:prstDash val="solid"/>
          </a:ln>
        </p:spPr>
      </p:sp>
      <p:pic>
        <p:nvPicPr>
          <p:cNvPr id="5" name="Image 0" descr="/Users/arty/Mori/public/images/mori-compan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19072"/>
            <a:ext cx="6345936" cy="29992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4919472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“Would you like to see a memory together?”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7607808" y="1645920"/>
            <a:ext cx="310896" cy="310896"/>
          </a:xfrm>
          <a:prstGeom prst="ellipse">
            <a:avLst/>
          </a:prstGeom>
          <a:solidFill>
            <a:srgbClr val="819783"/>
          </a:solidFill>
          <a:ln w="12700">
            <a:solidFill>
              <a:srgbClr val="81978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07808" y="1636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1627632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Starts with connection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197510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Mori makes small talk before introducing memory content.</a:t>
            </a:r>
            <a:endParaRPr lang="en-US" sz="1160" dirty="0"/>
          </a:p>
        </p:txBody>
      </p:sp>
      <p:sp>
        <p:nvSpPr>
          <p:cNvPr id="11" name="Shape 8"/>
          <p:cNvSpPr/>
          <p:nvPr/>
        </p:nvSpPr>
        <p:spPr>
          <a:xfrm>
            <a:off x="7607808" y="2724912"/>
            <a:ext cx="310896" cy="310896"/>
          </a:xfrm>
          <a:prstGeom prst="ellipse">
            <a:avLst/>
          </a:prstGeom>
          <a:solidFill>
            <a:srgbClr val="819783"/>
          </a:solidFill>
          <a:ln w="12700">
            <a:solidFill>
              <a:srgbClr val="81978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07808" y="2715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2706624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Asks before showing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092440" y="305409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Participants stay in control of memory changes, pauses and ending.</a:t>
            </a:r>
            <a:endParaRPr lang="en-US" sz="1160" dirty="0"/>
          </a:p>
        </p:txBody>
      </p:sp>
      <p:sp>
        <p:nvSpPr>
          <p:cNvPr id="15" name="Shape 12"/>
          <p:cNvSpPr/>
          <p:nvPr/>
        </p:nvSpPr>
        <p:spPr>
          <a:xfrm>
            <a:off x="7607808" y="3803904"/>
            <a:ext cx="310896" cy="310896"/>
          </a:xfrm>
          <a:prstGeom prst="ellipse">
            <a:avLst/>
          </a:prstGeom>
          <a:solidFill>
            <a:srgbClr val="283B30"/>
          </a:solidFill>
          <a:ln w="12700">
            <a:solidFill>
              <a:srgbClr val="283B3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607808" y="3794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092440" y="3785616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Handles uncertainty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092440" y="413308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Mori does not guess who is in a photo or assert unverified facts.</a:t>
            </a:r>
            <a:endParaRPr lang="en-US" sz="1160" dirty="0"/>
          </a:p>
        </p:txBody>
      </p:sp>
      <p:sp>
        <p:nvSpPr>
          <p:cNvPr id="19" name="Shape 16"/>
          <p:cNvSpPr/>
          <p:nvPr/>
        </p:nvSpPr>
        <p:spPr>
          <a:xfrm>
            <a:off x="7607808" y="4882896"/>
            <a:ext cx="310896" cy="310896"/>
          </a:xfrm>
          <a:prstGeom prst="ellipse">
            <a:avLst/>
          </a:prstGeom>
          <a:solidFill>
            <a:srgbClr val="283B30"/>
          </a:solidFill>
          <a:ln w="12700">
            <a:solidFill>
              <a:srgbClr val="283B3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607808" y="4873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092440" y="4864608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Keeps a human exit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092440" y="52120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escalation and caregiver controls remain available.</a:t>
            </a:r>
            <a:endParaRPr lang="en-US" sz="11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37960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36D6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819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MOAT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Mori is more than a chatbot with a warm voice.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35331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Its defensibility grows from structured, permissioned context and the operating system around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847088"/>
            <a:ext cx="66751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8890">
            <a:solidFill>
              <a:srgbClr val="C9C2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95681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9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92938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 Map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2898648" y="1929384"/>
            <a:ext cx="4251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longitudinal graph of people, places, media, relationships and verified context.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822960" y="2807208"/>
            <a:ext cx="6355080" cy="749808"/>
          </a:xfrm>
          <a:prstGeom prst="roundRect">
            <a:avLst>
              <a:gd name="adj" fmla="val 7317"/>
            </a:avLst>
          </a:prstGeom>
          <a:solidFill>
            <a:srgbClr val="E3EADF"/>
          </a:solidFill>
          <a:ln w="8890">
            <a:solidFill>
              <a:srgbClr val="C9C2B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291693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9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536192" y="288950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Permission engine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2889504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memory carries access, session-use, verification and withdrawal rules.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987552" y="3767328"/>
            <a:ext cx="60350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8890">
            <a:solidFill>
              <a:srgbClr val="C9C2B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70432" y="387705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9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700784" y="384962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controller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3227832" y="3849624"/>
            <a:ext cx="3611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boundaries surround model generation for high-impact scenarios.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1152144" y="4727448"/>
            <a:ext cx="5715000" cy="749808"/>
          </a:xfrm>
          <a:prstGeom prst="roundRect">
            <a:avLst>
              <a:gd name="adj" fmla="val 7317"/>
            </a:avLst>
          </a:prstGeom>
          <a:solidFill>
            <a:srgbClr val="E3EADF"/>
          </a:solidFill>
          <a:ln w="8890">
            <a:solidFill>
              <a:srgbClr val="C9C2B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35024" y="483717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9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865376" y="480974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loop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3392424" y="4809744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Corrections, refusals, session signals and caregiver review improve future interactions.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7882128" y="1856232"/>
            <a:ext cx="3493008" cy="3657600"/>
          </a:xfrm>
          <a:prstGeom prst="roundRect">
            <a:avLst>
              <a:gd name="adj" fmla="val 2618"/>
            </a:avLst>
          </a:prstGeom>
          <a:solidFill>
            <a:srgbClr val="283B30"/>
          </a:solidFill>
          <a:ln w="8890">
            <a:solidFill>
              <a:srgbClr val="283B3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11312" y="219456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compounding asset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8211312" y="2944368"/>
            <a:ext cx="2697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E1E8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richer personal context layer—built with consent—makes Mori more relevant to each participant while the safety and permission framework stays consistent across deployments.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211312" y="47731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FC5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Model-agnostic by design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211312" y="513892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4DE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Qwen today; hosted inference can be introduced only when privacy, reliability and cost gates are met.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37960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36D6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819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TO DATE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working product with measurable engineering readiness.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35331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results validate the system—not clinical effectiveness.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30352" y="1783080"/>
            <a:ext cx="5257800" cy="1353312"/>
          </a:xfrm>
          <a:prstGeom prst="roundRect">
            <a:avLst>
              <a:gd name="adj" fmla="val 5405"/>
            </a:avLst>
          </a:prstGeom>
          <a:solidFill>
            <a:srgbClr val="E1E9DE"/>
          </a:solidFill>
          <a:ln w="8890">
            <a:solidFill>
              <a:srgbClr val="C9C2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194767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3B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63 / 63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194767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checks passed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235915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repeated runs × 21 scenarios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6181344" y="1783080"/>
            <a:ext cx="52578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8890">
            <a:solidFill>
              <a:srgbClr val="C9C2B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9944" y="194767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96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/ 16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8028432" y="194767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safety cases passed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8028432" y="235915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medical, abuse and self-harm language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530352" y="3483864"/>
            <a:ext cx="52578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8890">
            <a:solidFill>
              <a:srgbClr val="C9C2B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364845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3B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3.75 sec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2377440" y="364845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 model latency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2377440" y="405993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an 8 GB M1 MacBook Air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6181344" y="3483864"/>
            <a:ext cx="52578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8890">
            <a:solidFill>
              <a:srgbClr val="C9C2B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9944" y="364845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3B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12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8028432" y="364845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long-session checks passed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8028432" y="405993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continuity, refusal and topic changes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566928" y="5340096"/>
            <a:ext cx="10863072" cy="0"/>
          </a:xfrm>
          <a:prstGeom prst="line">
            <a:avLst/>
          </a:prstGeom>
          <a:noFill/>
          <a:ln w="10160">
            <a:solidFill>
              <a:srgbClr val="C9C2B6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 txBox="1"/>
          <p:nvPr/>
        </p:nvSpPr>
        <p:spPr>
          <a:xfrm>
            <a:off x="621792" y="55595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819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5477256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 · private media · Life Map · family permissions · sessions · summaries · safety · monitoring · demo controls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5870448"/>
            <a:ext cx="9509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proof: supervised usability, advisor approval, staging recovery and participant outcomes.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37960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36D6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819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where trust and supervision already exist.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35331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staged B2B2C model can align adoption, support and evidence generation.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56232"/>
            <a:ext cx="3401568" cy="3493008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8890">
            <a:solidFill>
              <a:srgbClr val="C9C2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75688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819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PARTNERS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27832"/>
            <a:ext cx="2852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Memory-care communities, home-care organizations and aging-services programs</a:t>
            </a:r>
            <a:endParaRPr lang="en-US" sz="1720" dirty="0"/>
          </a:p>
        </p:txBody>
      </p:sp>
      <p:sp>
        <p:nvSpPr>
          <p:cNvPr id="9" name="Shape 7"/>
          <p:cNvSpPr/>
          <p:nvPr/>
        </p:nvSpPr>
        <p:spPr>
          <a:xfrm>
            <a:off x="777240" y="4462272"/>
            <a:ext cx="2862072" cy="0"/>
          </a:xfrm>
          <a:prstGeom prst="line">
            <a:avLst/>
          </a:prstGeom>
          <a:noFill/>
          <a:ln w="10160">
            <a:solidFill>
              <a:srgbClr val="C9C2B6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 txBox="1"/>
          <p:nvPr/>
        </p:nvSpPr>
        <p:spPr>
          <a:xfrm>
            <a:off x="777240" y="469087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83B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pilot / implementation fee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4389120" y="1856232"/>
            <a:ext cx="3401568" cy="3493008"/>
          </a:xfrm>
          <a:prstGeom prst="roundRect">
            <a:avLst>
              <a:gd name="adj" fmla="val 2419"/>
            </a:avLst>
          </a:prstGeom>
          <a:solidFill>
            <a:srgbClr val="E2EAE0"/>
          </a:solidFill>
          <a:ln w="8890">
            <a:solidFill>
              <a:srgbClr val="C9C2B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2075688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819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78892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 SUBSCRIPTION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227832"/>
            <a:ext cx="2852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Per-participant software, family workspace and operational support</a:t>
            </a:r>
            <a:endParaRPr lang="en-US" sz="1720" dirty="0"/>
          </a:p>
        </p:txBody>
      </p:sp>
      <p:sp>
        <p:nvSpPr>
          <p:cNvPr id="15" name="Shape 13"/>
          <p:cNvSpPr/>
          <p:nvPr/>
        </p:nvSpPr>
        <p:spPr>
          <a:xfrm>
            <a:off x="4617720" y="4462272"/>
            <a:ext cx="2862072" cy="0"/>
          </a:xfrm>
          <a:prstGeom prst="line">
            <a:avLst/>
          </a:prstGeom>
          <a:noFill/>
          <a:ln w="10160">
            <a:solidFill>
              <a:srgbClr val="C9C2B6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 txBox="1"/>
          <p:nvPr/>
        </p:nvSpPr>
        <p:spPr>
          <a:xfrm>
            <a:off x="4617720" y="469087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83B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Recurring SaaS revenue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8229600" y="1856232"/>
            <a:ext cx="3401568" cy="3493008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8890">
            <a:solidFill>
              <a:srgbClr val="C9C2B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58200" y="2075688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819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5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278892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EXPANSION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3227832"/>
            <a:ext cx="2852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Multi-site operators, channel partners and care ecosystems</a:t>
            </a:r>
            <a:endParaRPr lang="en-US" sz="1720" dirty="0"/>
          </a:p>
        </p:txBody>
      </p:sp>
      <p:sp>
        <p:nvSpPr>
          <p:cNvPr id="21" name="Shape 19"/>
          <p:cNvSpPr/>
          <p:nvPr/>
        </p:nvSpPr>
        <p:spPr>
          <a:xfrm>
            <a:off x="8458200" y="4462272"/>
            <a:ext cx="2862072" cy="0"/>
          </a:xfrm>
          <a:prstGeom prst="line">
            <a:avLst/>
          </a:prstGeom>
          <a:noFill/>
          <a:ln w="10160">
            <a:solidFill>
              <a:srgbClr val="C9C2B6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 txBox="1"/>
          <p:nvPr/>
        </p:nvSpPr>
        <p:spPr>
          <a:xfrm>
            <a:off x="8458200" y="469087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83B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agreements</a:t>
            </a:r>
            <a:endParaRPr lang="en-US" sz="122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57150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pricing will be tested with design partners; the current objective is willingness-to-pay and retention evidence, not premature scale.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37960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36D6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819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 TO MARKET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Earn trust in narrow, supervised steps.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35331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Mori’s launch path is designed to create evidence before expansion.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21792" y="1755648"/>
            <a:ext cx="1170432" cy="320040"/>
          </a:xfrm>
          <a:prstGeom prst="roundRect">
            <a:avLst>
              <a:gd name="adj" fmla="val 45714"/>
            </a:avLst>
          </a:prstGeom>
          <a:solidFill>
            <a:srgbClr val="B96A4A"/>
          </a:solidFill>
          <a:ln w="12700">
            <a:solidFill>
              <a:srgbClr val="B96A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1773936"/>
            <a:ext cx="1024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174650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Advisor review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462272" y="1737360"/>
            <a:ext cx="6355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prompts, safeguards, consent and stopping rules.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197864" y="2103120"/>
            <a:ext cx="0" cy="713232"/>
          </a:xfrm>
          <a:prstGeom prst="line">
            <a:avLst/>
          </a:prstGeom>
          <a:noFill/>
          <a:ln w="25400">
            <a:solidFill>
              <a:srgbClr val="B8C4B5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621792" y="2834640"/>
            <a:ext cx="1170432" cy="320040"/>
          </a:xfrm>
          <a:prstGeom prst="roundRect">
            <a:avLst>
              <a:gd name="adj" fmla="val 45714"/>
            </a:avLst>
          </a:prstGeom>
          <a:solidFill>
            <a:srgbClr val="283B30"/>
          </a:solidFill>
          <a:ln w="12700">
            <a:solidFill>
              <a:srgbClr val="283B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" y="2852928"/>
            <a:ext cx="1024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0–6 MO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057400" y="282549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Supervised pilots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462272" y="2816352"/>
            <a:ext cx="6355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small cohorts with trained supervisors and structured feedback.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197864" y="3182112"/>
            <a:ext cx="0" cy="713232"/>
          </a:xfrm>
          <a:prstGeom prst="line">
            <a:avLst/>
          </a:prstGeom>
          <a:noFill/>
          <a:ln w="25400">
            <a:solidFill>
              <a:srgbClr val="B8C4B5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621792" y="3913632"/>
            <a:ext cx="1170432" cy="320040"/>
          </a:xfrm>
          <a:prstGeom prst="roundRect">
            <a:avLst>
              <a:gd name="adj" fmla="val 45714"/>
            </a:avLst>
          </a:prstGeom>
          <a:solidFill>
            <a:srgbClr val="283B30"/>
          </a:solidFill>
          <a:ln w="12700">
            <a:solidFill>
              <a:srgbClr val="283B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" y="3931920"/>
            <a:ext cx="1024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6–12 MO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057400" y="39044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design partners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462272" y="3895344"/>
            <a:ext cx="6355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successful pilots into site agreements and reference accounts.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197864" y="4261104"/>
            <a:ext cx="0" cy="713232"/>
          </a:xfrm>
          <a:prstGeom prst="line">
            <a:avLst/>
          </a:prstGeom>
          <a:noFill/>
          <a:ln w="25400">
            <a:solidFill>
              <a:srgbClr val="B8C4B5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621792" y="4992624"/>
            <a:ext cx="1170432" cy="320040"/>
          </a:xfrm>
          <a:prstGeom prst="roundRect">
            <a:avLst>
              <a:gd name="adj" fmla="val 45714"/>
            </a:avLst>
          </a:prstGeom>
          <a:solidFill>
            <a:srgbClr val="283B30"/>
          </a:solidFill>
          <a:ln w="12700">
            <a:solidFill>
              <a:srgbClr val="283B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4944" y="5010912"/>
            <a:ext cx="1024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12–18 MO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057400" y="49834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Repeatable deployment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462272" y="4974336"/>
            <a:ext cx="6355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 onboarding, device/model operations and multi-site support.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714232" y="5321808"/>
            <a:ext cx="2395728" cy="566928"/>
          </a:xfrm>
          <a:prstGeom prst="roundRect">
            <a:avLst>
              <a:gd name="adj" fmla="val 6452"/>
            </a:avLst>
          </a:prstGeom>
          <a:solidFill>
            <a:srgbClr val="E1E9DE"/>
          </a:solidFill>
          <a:ln w="8890">
            <a:solidFill>
              <a:srgbClr val="E1E9D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897112" y="5440680"/>
            <a:ext cx="2029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83B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 each expansion on safety + evidence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37960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36D6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819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for the space between memory books and generic AI.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35331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Mori combines personal context, participant agency and care-aware safeguards.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97280" y="1856232"/>
            <a:ext cx="8869680" cy="3840480"/>
          </a:xfrm>
          <a:prstGeom prst="rect">
            <a:avLst/>
          </a:prstGeom>
          <a:solidFill>
            <a:srgbClr val="FAF8F3"/>
          </a:solidFill>
          <a:ln w="10160">
            <a:solidFill>
              <a:srgbClr val="C9C2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32120" y="1856232"/>
            <a:ext cx="0" cy="3840480"/>
          </a:xfrm>
          <a:prstGeom prst="line">
            <a:avLst/>
          </a:prstGeom>
          <a:noFill/>
          <a:ln w="12700">
            <a:solidFill>
              <a:srgbClr val="C9C2B6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097280" y="3776472"/>
            <a:ext cx="8869680" cy="0"/>
          </a:xfrm>
          <a:prstGeom prst="line">
            <a:avLst/>
          </a:prstGeom>
          <a:noFill/>
          <a:ln w="12700">
            <a:solidFill>
              <a:srgbClr val="C9C2B6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 txBox="1"/>
          <p:nvPr/>
        </p:nvSpPr>
        <p:spPr>
          <a:xfrm rot="16200000">
            <a:off x="640080" y="3639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 CONTEXT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 rot="5400000">
            <a:off x="9829800" y="3520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CONTEXT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370832" y="58338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CARE OVERSIGHT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370832" y="15179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CARE OVERSIGHT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0" y="4407408"/>
            <a:ext cx="2240280" cy="320040"/>
          </a:xfrm>
          <a:prstGeom prst="roundRect">
            <a:avLst>
              <a:gd name="adj" fmla="val 45714"/>
            </a:avLst>
          </a:prstGeom>
          <a:solidFill>
            <a:srgbClr val="B8BCC4"/>
          </a:solidFill>
          <a:ln w="12700">
            <a:solidFill>
              <a:srgbClr val="B8BC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901952" y="4425696"/>
            <a:ext cx="20939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 AI COMPANIONS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66560" y="4407408"/>
            <a:ext cx="2148840" cy="320040"/>
          </a:xfrm>
          <a:prstGeom prst="roundRect">
            <a:avLst>
              <a:gd name="adj" fmla="val 45714"/>
            </a:avLst>
          </a:prstGeom>
          <a:solidFill>
            <a:srgbClr val="C7BBA5"/>
          </a:solidFill>
          <a:ln w="12700">
            <a:solidFill>
              <a:srgbClr val="C7BBA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39712" y="4425696"/>
            <a:ext cx="20025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MEMORY BOOKS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084832" y="2423160"/>
            <a:ext cx="2057400" cy="320040"/>
          </a:xfrm>
          <a:prstGeom prst="roundRect">
            <a:avLst>
              <a:gd name="adj" fmla="val 45714"/>
            </a:avLst>
          </a:prstGeom>
          <a:solidFill>
            <a:srgbClr val="527A86"/>
          </a:solidFill>
          <a:ln w="12700">
            <a:solidFill>
              <a:srgbClr val="527A8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157984" y="2441448"/>
            <a:ext cx="19110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 WORKFLOW TOOLS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29400" y="2157984"/>
            <a:ext cx="1481328" cy="1481328"/>
          </a:xfrm>
          <a:prstGeom prst="ellipse">
            <a:avLst/>
          </a:prstGeom>
          <a:solidFill>
            <a:srgbClr val="81978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29400" y="257860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MORI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212848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83B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Permissioned memories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283B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safe conversation layer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283B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family collaboration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37960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36D6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819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18 MONTHS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engineering readiness into trusted deployment.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35331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Funding is aimed at the evidence, infrastructure and partnerships required for repeatable pilots.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16642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19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6642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83B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404872" y="1645920"/>
            <a:ext cx="3291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Qualified advisor review, internal role-play and supervised participant sessions.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530352" y="2505456"/>
            <a:ext cx="5120640" cy="0"/>
          </a:xfrm>
          <a:prstGeom prst="line">
            <a:avLst/>
          </a:prstGeom>
          <a:noFill/>
          <a:ln w="10160">
            <a:solidFill>
              <a:srgbClr val="C9C2B6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6181344" y="16642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19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21424" y="16642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83B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HARDEN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055864" y="1645920"/>
            <a:ext cx="3291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Staging recovery, independent security review, hosted demo controls and operations.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6181344" y="2505456"/>
            <a:ext cx="5120640" cy="0"/>
          </a:xfrm>
          <a:prstGeom prst="line">
            <a:avLst/>
          </a:prstGeom>
          <a:noFill/>
          <a:ln w="10160">
            <a:solidFill>
              <a:srgbClr val="C9C2B6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 txBox="1"/>
          <p:nvPr/>
        </p:nvSpPr>
        <p:spPr>
          <a:xfrm>
            <a:off x="530352" y="314553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19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314553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83B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404872" y="3127248"/>
            <a:ext cx="3291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3–5 design partners, usage retention and caregiver/participant feasibility evidence.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30352" y="3986784"/>
            <a:ext cx="5120640" cy="0"/>
          </a:xfrm>
          <a:prstGeom prst="line">
            <a:avLst/>
          </a:prstGeom>
          <a:noFill/>
          <a:ln w="10160">
            <a:solidFill>
              <a:srgbClr val="C9C2B6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 txBox="1"/>
          <p:nvPr/>
        </p:nvSpPr>
        <p:spPr>
          <a:xfrm>
            <a:off x="6181344" y="314553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19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821424" y="314553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83B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055864" y="3127248"/>
            <a:ext cx="3291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Repeatable site onboarding, model hosting and production monitoring.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181344" y="3986784"/>
            <a:ext cx="5120640" cy="0"/>
          </a:xfrm>
          <a:prstGeom prst="line">
            <a:avLst/>
          </a:prstGeom>
          <a:noFill/>
          <a:ln w="10160">
            <a:solidFill>
              <a:srgbClr val="C9C2B6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640080" y="5084064"/>
            <a:ext cx="4315968" cy="502920"/>
          </a:xfrm>
          <a:prstGeom prst="rect">
            <a:avLst/>
          </a:prstGeom>
          <a:solidFill>
            <a:srgbClr val="283B30"/>
          </a:solidFill>
          <a:ln w="12700">
            <a:solidFill>
              <a:srgbClr val="F5F0E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5166360"/>
            <a:ext cx="4315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56048" y="5084064"/>
            <a:ext cx="2697480" cy="502920"/>
          </a:xfrm>
          <a:prstGeom prst="rect">
            <a:avLst/>
          </a:prstGeom>
          <a:solidFill>
            <a:srgbClr val="819783"/>
          </a:solidFill>
          <a:ln w="12700">
            <a:solidFill>
              <a:srgbClr val="F5F0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56048" y="516636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653528" y="5084064"/>
            <a:ext cx="2157984" cy="502920"/>
          </a:xfrm>
          <a:prstGeom prst="rect">
            <a:avLst/>
          </a:prstGeom>
          <a:solidFill>
            <a:srgbClr val="527A86"/>
          </a:solidFill>
          <a:ln w="12700">
            <a:solidFill>
              <a:srgbClr val="F5F0E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53528" y="5166360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811512" y="5084064"/>
            <a:ext cx="1618488" cy="502920"/>
          </a:xfrm>
          <a:prstGeom prst="rect">
            <a:avLst/>
          </a:prstGeom>
          <a:solidFill>
            <a:srgbClr val="D3A65B"/>
          </a:solidFill>
          <a:ln w="12700">
            <a:solidFill>
              <a:srgbClr val="F5F0E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811512" y="5166360"/>
            <a:ext cx="1618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" y="579729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83B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40%  Product + AI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3401568" y="579729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19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  Pilots + evidence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144768" y="579729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2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  Security + operations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8887968" y="579729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A74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  Go to market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37960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36D6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83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83B30"/>
          </a:solidFill>
          <a:ln w="12700">
            <a:solidFill>
              <a:srgbClr val="283B3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51206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DC0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444752"/>
            <a:ext cx="80467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 make memory care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personal—and more human.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24612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7E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Raising $[X] pre-seed to complete supervised pilots, harden production operations and secure the first design-partner deployments.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138160" y="1298448"/>
            <a:ext cx="3364992" cy="3547872"/>
          </a:xfrm>
          <a:prstGeom prst="roundRect">
            <a:avLst>
              <a:gd name="adj" fmla="val 3261"/>
            </a:avLst>
          </a:prstGeom>
          <a:solidFill>
            <a:srgbClr val="E8E0D1"/>
          </a:solidFill>
          <a:ln w="8890">
            <a:solidFill>
              <a:srgbClr val="E8E0D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39912" y="162763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819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ASK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439912" y="222199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Capital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46920" y="21579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83B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$[X]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430768" y="2788920"/>
            <a:ext cx="2587752" cy="0"/>
          </a:xfrm>
          <a:prstGeom prst="line">
            <a:avLst/>
          </a:prstGeom>
          <a:noFill/>
          <a:ln w="10160">
            <a:solidFill>
              <a:srgbClr val="C9C2B6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 txBox="1"/>
          <p:nvPr/>
        </p:nvSpPr>
        <p:spPr>
          <a:xfrm>
            <a:off x="8439912" y="3035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439912" y="34472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sites · advisors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8430768" y="3995928"/>
            <a:ext cx="2587752" cy="0"/>
          </a:xfrm>
          <a:prstGeom prst="line">
            <a:avLst/>
          </a:prstGeom>
          <a:noFill/>
          <a:ln w="10160">
            <a:solidFill>
              <a:srgbClr val="C9C2B6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 txBox="1"/>
          <p:nvPr/>
        </p:nvSpPr>
        <p:spPr>
          <a:xfrm>
            <a:off x="8439912" y="4251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2E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345168" y="4133088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Arty [last name]</a:t>
            </a:r>
            <a:endParaRPr lang="en-US" sz="1150" dirty="0"/>
          </a:p>
          <a:p>
            <a:pPr algn="r" indent="0" marL="0">
              <a:buNone/>
            </a:pPr>
            <a:r>
              <a:rPr lang="en-US" sz="1150" dirty="0">
                <a:solidFill>
                  <a:srgbClr val="74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[email]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4892040"/>
            <a:ext cx="1965960" cy="320040"/>
          </a:xfrm>
          <a:prstGeom prst="roundRect">
            <a:avLst>
              <a:gd name="adj" fmla="val 45714"/>
            </a:avLst>
          </a:prstGeom>
          <a:solidFill>
            <a:srgbClr val="819783"/>
          </a:solidFill>
          <a:ln w="12700">
            <a:solidFill>
              <a:srgbClr val="81978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4910328"/>
            <a:ext cx="181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PILOT-READY PRODUCT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94944" y="5687568"/>
            <a:ext cx="6126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FCA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Supportive technology · not a medical device or replacement for care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37960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36D6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Mori — Memory, dignity, connection</dc:title>
  <dc:subject>Pre-seed investor presentation</dc:subject>
  <dc:creator>Mori</dc:creator>
  <cp:lastModifiedBy>Mori</cp:lastModifiedBy>
  <cp:revision>1</cp:revision>
  <dcterms:created xsi:type="dcterms:W3CDTF">2026-09-26T01:52:36Z</dcterms:created>
  <dcterms:modified xsi:type="dcterms:W3CDTF">2026-09-26T01:52:36Z</dcterms:modified>
</cp:coreProperties>
</file>